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8" r:id="rId6"/>
    <p:sldId id="306" r:id="rId7"/>
    <p:sldId id="307" r:id="rId8"/>
    <p:sldId id="308" r:id="rId9"/>
    <p:sldId id="309" r:id="rId10"/>
    <p:sldId id="310" r:id="rId11"/>
    <p:sldId id="312" r:id="rId12"/>
    <p:sldId id="311" r:id="rId13"/>
    <p:sldId id="313" r:id="rId14"/>
    <p:sldId id="314" r:id="rId15"/>
    <p:sldId id="317" r:id="rId16"/>
    <p:sldId id="315" r:id="rId17"/>
    <p:sldId id="31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B7C6"/>
    <a:srgbClr val="103350"/>
    <a:srgbClr val="0C4360"/>
    <a:srgbClr val="1B6872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1248" autoAdjust="0"/>
  </p:normalViewPr>
  <p:slideViewPr>
    <p:cSldViewPr snapToGrid="0">
      <p:cViewPr varScale="1">
        <p:scale>
          <a:sx n="81" d="100"/>
          <a:sy n="81" d="100"/>
        </p:scale>
        <p:origin x="157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28-Jan-26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28-Jan-26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38181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27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8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9" name="Right Triangle 28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30" name="Right Triangle 29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31" name="Right Triangle 30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32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24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5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9455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4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7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8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9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1233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9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2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17843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28-Jan-26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8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9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185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21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22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01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7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8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9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6696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3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3770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1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9480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4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8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897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573636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53954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86358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533905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32581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39935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44582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051700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53283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28-Jan-26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9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22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23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124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51" r:id="rId19"/>
    <p:sldLayoutId id="2147483666" r:id="rId20"/>
    <p:sldLayoutId id="2147483661" r:id="rId21"/>
    <p:sldLayoutId id="2147483677" r:id="rId22"/>
    <p:sldLayoutId id="2147483674" r:id="rId23"/>
    <p:sldLayoutId id="2147483665" r:id="rId24"/>
    <p:sldLayoutId id="2147483673" r:id="rId25"/>
    <p:sldLayoutId id="2147483662" r:id="rId26"/>
    <p:sldLayoutId id="2147483663" r:id="rId27"/>
    <p:sldLayoutId id="2147483664" r:id="rId28"/>
    <p:sldLayoutId id="2147483675" r:id="rId29"/>
    <p:sldLayoutId id="2147483676" r:id="rId30"/>
    <p:sldLayoutId id="2147483672" r:id="rId31"/>
    <p:sldLayoutId id="2147483667" r:id="rId32"/>
    <p:sldLayoutId id="2147483668" r:id="rId3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8701" y="1397000"/>
            <a:ext cx="9309099" cy="3792579"/>
          </a:xfrm>
        </p:spPr>
        <p:txBody>
          <a:bodyPr/>
          <a:lstStyle/>
          <a:p>
            <a:r>
              <a:rPr lang="en-US" dirty="0" err="1" smtClean="0"/>
              <a:t>Analiza</a:t>
            </a:r>
            <a:r>
              <a:rPr lang="en-US" dirty="0" smtClean="0"/>
              <a:t> </a:t>
            </a:r>
            <a:r>
              <a:rPr lang="sr-Latn-RS" dirty="0" smtClean="0"/>
              <a:t>dostupnih izvora </a:t>
            </a:r>
            <a:r>
              <a:rPr lang="en-US" dirty="0" err="1" smtClean="0"/>
              <a:t>podataka</a:t>
            </a:r>
            <a:r>
              <a:rPr lang="en-US" dirty="0" smtClean="0"/>
              <a:t> </a:t>
            </a:r>
            <a:r>
              <a:rPr lang="en-US" dirty="0" err="1" smtClean="0"/>
              <a:t>vezanih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otkrivanje</a:t>
            </a:r>
            <a:r>
              <a:rPr lang="en-US" dirty="0" smtClean="0"/>
              <a:t> </a:t>
            </a:r>
            <a:r>
              <a:rPr lang="en-US" dirty="0" err="1" smtClean="0"/>
              <a:t>finansijskih</a:t>
            </a:r>
            <a:r>
              <a:rPr lang="en-US" dirty="0" smtClean="0"/>
              <a:t> </a:t>
            </a:r>
            <a:r>
              <a:rPr lang="en-US" dirty="0" err="1" smtClean="0"/>
              <a:t>prevara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996211" y="5189579"/>
            <a:ext cx="6815669" cy="1320802"/>
          </a:xfrm>
        </p:spPr>
        <p:txBody>
          <a:bodyPr/>
          <a:lstStyle/>
          <a:p>
            <a:r>
              <a:rPr lang="sr-Latn-RS" dirty="0" smtClean="0"/>
              <a:t>Miloš Jakovljević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 txBox="1">
            <a:spLocks/>
          </p:cNvSpPr>
          <p:nvPr/>
        </p:nvSpPr>
        <p:spPr>
          <a:xfrm>
            <a:off x="444500" y="794466"/>
            <a:ext cx="7781544" cy="85905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sz="5400" dirty="0" smtClean="0"/>
              <a:t>Finansijske prevare</a:t>
            </a:r>
            <a:endParaRPr lang="en-US" sz="5400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 txBox="1">
            <a:spLocks/>
          </p:cNvSpPr>
          <p:nvPr/>
        </p:nvSpPr>
        <p:spPr>
          <a:xfrm>
            <a:off x="444501" y="1968787"/>
            <a:ext cx="8629162" cy="31659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sr-Latn-RS" dirty="0" smtClean="0">
                <a:solidFill>
                  <a:schemeClr val="bg1"/>
                </a:solidFill>
              </a:rPr>
              <a:t>U digitalnom dobu, finansijska prevara postaje sve češća pretnja (e-</a:t>
            </a:r>
            <a:r>
              <a:rPr lang="sr-Latn-RS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bankarstvo </a:t>
            </a:r>
            <a:r>
              <a:rPr lang="sr-Latn-R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 </a:t>
            </a:r>
            <a:r>
              <a:rPr lang="sr-Latn-RS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e-trgovina)</a:t>
            </a:r>
          </a:p>
          <a:p>
            <a:pPr marL="285750" indent="-285750"/>
            <a:r>
              <a:rPr lang="sr-Latn-R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 porastom onlajn transakcija i </a:t>
            </a:r>
            <a:r>
              <a:rPr lang="sr-Latn-RS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razvojem digitalnog </a:t>
            </a:r>
            <a:r>
              <a:rPr lang="sr-Latn-R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bankarstva, prevaranti su pronašli nove načine da iskoriste ranjivosti u sistemu.</a:t>
            </a:r>
          </a:p>
          <a:p>
            <a:pPr marL="285750" indent="-285750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84775"/>
          </a:xfrm>
        </p:spPr>
        <p:txBody>
          <a:bodyPr/>
          <a:lstStyle/>
          <a:p>
            <a:r>
              <a:rPr lang="sr-Latn-RS" dirty="0"/>
              <a:t>Finansijske prevare u digitalnom okruženju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r-Latn-RS" dirty="0"/>
              <a:t>U savremenom digitalnom dobu finansijske prevare predstavljaju jedan od najvećih bezbednosnih izazova. Razvoj </a:t>
            </a:r>
            <a:r>
              <a:rPr lang="sr-Latn-RS" b="1" dirty="0"/>
              <a:t>e-bankarstva</a:t>
            </a:r>
            <a:r>
              <a:rPr lang="sr-Latn-RS" dirty="0"/>
              <a:t>, </a:t>
            </a:r>
            <a:r>
              <a:rPr lang="sr-Latn-RS" b="1" dirty="0"/>
              <a:t>e-trgovine</a:t>
            </a:r>
            <a:r>
              <a:rPr lang="sr-Latn-RS" dirty="0"/>
              <a:t> i mobilnih plaćanja značajno je olakšao svakodnevne transakcije, ali je istovremeno otvorio prostor za nove oblike zloupotreba. Prevaranti koriste tehničke i ljudske ranjivosti kako bi ostvarili nelegalnu finansijsku dobit.</a:t>
            </a:r>
          </a:p>
        </p:txBody>
      </p:sp>
    </p:spTree>
    <p:extLst>
      <p:ext uri="{BB962C8B-B14F-4D97-AF65-F5344CB8AC3E}">
        <p14:creationId xmlns:p14="http://schemas.microsoft.com/office/powerpoint/2010/main" val="197266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84775"/>
          </a:xfrm>
        </p:spPr>
        <p:txBody>
          <a:bodyPr/>
          <a:lstStyle/>
          <a:p>
            <a:r>
              <a:rPr lang="sr-Latn-RS" dirty="0"/>
              <a:t>Otkrivanje finansijskih prevara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r-Latn-RS" dirty="0"/>
              <a:t>Otkrivanje prevara podrazumeva identifikaciju i sprečavanje nelegalnih aktivnosti u finansijskim sistemima. Ovaj proces je posebno važan u onlajn okruženju, gde se transakcije odvijaju velikom brzinom i u ogromnom obimu.</a:t>
            </a:r>
          </a:p>
          <a:p>
            <a:r>
              <a:rPr lang="sr-Latn-RS" dirty="0"/>
              <a:t>Najčešći oblici finansijskih prevara su:</a:t>
            </a:r>
          </a:p>
          <a:p>
            <a:r>
              <a:rPr lang="sr-Latn-RS" b="1" dirty="0"/>
              <a:t>Prevare sa kreditnim karticama</a:t>
            </a:r>
            <a:r>
              <a:rPr lang="sr-Latn-RS" dirty="0"/>
              <a:t> – neovlašćeno korišćenje kartičnih podataka</a:t>
            </a:r>
          </a:p>
          <a:p>
            <a:r>
              <a:rPr lang="sr-Latn-RS" b="1" dirty="0"/>
              <a:t>Krađa identiteta</a:t>
            </a:r>
            <a:r>
              <a:rPr lang="sr-Latn-RS" dirty="0"/>
              <a:t> – zloupotreba ličnih i autentifikacionih podataka</a:t>
            </a:r>
          </a:p>
          <a:p>
            <a:r>
              <a:rPr lang="sr-Latn-RS" b="1" dirty="0"/>
              <a:t>Pranje novca</a:t>
            </a:r>
            <a:r>
              <a:rPr lang="sr-Latn-RS" dirty="0"/>
              <a:t> – prikrivanje porekla nezakonito stečenih sredstava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096029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84775"/>
          </a:xfrm>
        </p:spPr>
        <p:txBody>
          <a:bodyPr/>
          <a:lstStyle/>
          <a:p>
            <a:r>
              <a:rPr lang="sr-Latn-RS" dirty="0"/>
              <a:t>Uloga mašinskog učenja u otkrivanju prevara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r-Latn-RS" dirty="0"/>
              <a:t>Zbog velikog obima podataka, tradicionalne metode nisu dovoljne, pa se sve češće koriste tehnike mašinskog učenja:</a:t>
            </a:r>
          </a:p>
          <a:p>
            <a:r>
              <a:rPr lang="sr-Latn-RS" b="1" dirty="0"/>
              <a:t>Nadgledano učenje</a:t>
            </a:r>
            <a:r>
              <a:rPr lang="sr-Latn-RS" dirty="0"/>
              <a:t> – modeli se treniraju na označenim podacima gde je poznato da li je transakcija legitimna ili prevarna</a:t>
            </a:r>
          </a:p>
          <a:p>
            <a:r>
              <a:rPr lang="sr-Latn-RS" b="1" dirty="0"/>
              <a:t>Nenadgledano učenje</a:t>
            </a:r>
            <a:r>
              <a:rPr lang="sr-Latn-RS" dirty="0"/>
              <a:t> – koristi se za otkrivanje anomalija grupisanjem sličnih transakcija, pri čemu odstupanja mogu ukazivati na prevaru</a:t>
            </a:r>
          </a:p>
          <a:p>
            <a:r>
              <a:rPr lang="sr-Latn-RS" dirty="0"/>
              <a:t>Ovi pristupi omogućavaju brzu i automatizovanu detekciju sumnjivih aktivnosti.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7554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84775"/>
          </a:xfrm>
        </p:spPr>
        <p:txBody>
          <a:bodyPr/>
          <a:lstStyle/>
          <a:p>
            <a:r>
              <a:rPr lang="sr-Latn-RS" dirty="0"/>
              <a:t>Prikupljanje podataka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r-Latn-RS" dirty="0"/>
              <a:t>Prikupljanje kvalitetnih podataka predstavlja osnovu svakog sistema za otkrivanje prevara. Najčešće se koriste:</a:t>
            </a:r>
          </a:p>
          <a:p>
            <a:r>
              <a:rPr lang="sr-Latn-RS" dirty="0"/>
              <a:t>Istorija finansijskih transakcija</a:t>
            </a:r>
          </a:p>
          <a:p>
            <a:r>
              <a:rPr lang="sr-Latn-RS" dirty="0"/>
              <a:t>Podaci o ponašanju korisnika</a:t>
            </a:r>
          </a:p>
          <a:p>
            <a:r>
              <a:rPr lang="sr-Latn-RS" dirty="0"/>
              <a:t>Kontekstualni podaci (vreme, lokacija, uređaj)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60871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84775"/>
          </a:xfrm>
        </p:spPr>
        <p:txBody>
          <a:bodyPr/>
          <a:lstStyle/>
          <a:p>
            <a:r>
              <a:rPr lang="sr-Latn-RS" dirty="0"/>
              <a:t>Dostupni izvori podataka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r-Latn-RS" dirty="0"/>
              <a:t>Postoji veliki broj javno dostupnih izvora podataka koji se koriste u istraživanju i razvoju modela za detekciju prevara:</a:t>
            </a:r>
          </a:p>
          <a:p>
            <a:r>
              <a:rPr lang="sr-Latn-RS" b="1" dirty="0"/>
              <a:t>Univerzitetski repozitorijumi</a:t>
            </a:r>
            <a:r>
              <a:rPr lang="sr-Latn-RS" dirty="0"/>
              <a:t> (npr. UCI ML Repository)</a:t>
            </a:r>
          </a:p>
          <a:p>
            <a:r>
              <a:rPr lang="sr-Latn-RS" b="1" dirty="0"/>
              <a:t>Platforme za podatke i takmičenja</a:t>
            </a:r>
            <a:r>
              <a:rPr lang="sr-Latn-RS" dirty="0"/>
              <a:t> (Kaggle)</a:t>
            </a:r>
          </a:p>
          <a:p>
            <a:r>
              <a:rPr lang="sr-Latn-RS" b="1" dirty="0"/>
              <a:t>Pretraživači skupova podataka</a:t>
            </a:r>
            <a:r>
              <a:rPr lang="sr-Latn-RS" dirty="0"/>
              <a:t> (Google Dataset Search)</a:t>
            </a:r>
          </a:p>
          <a:p>
            <a:r>
              <a:rPr lang="sr-Latn-RS" b="1" dirty="0"/>
              <a:t>Cloud repozitorijumi</a:t>
            </a:r>
            <a:r>
              <a:rPr lang="sr-Latn-RS" dirty="0"/>
              <a:t> (AWS, Google Cloud, Microsoft Azure)</a:t>
            </a:r>
          </a:p>
          <a:p>
            <a:r>
              <a:rPr lang="sr-Latn-RS" b="1" dirty="0"/>
              <a:t>Vladini i međunarodni portali</a:t>
            </a:r>
            <a:r>
              <a:rPr lang="sr-Latn-RS" dirty="0"/>
              <a:t> (Data.gov, EU Open Data Portal)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835148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84775"/>
          </a:xfrm>
        </p:spPr>
        <p:txBody>
          <a:bodyPr/>
          <a:lstStyle/>
          <a:p>
            <a:r>
              <a:rPr lang="sr-Latn-RS" dirty="0"/>
              <a:t>Kaggle platforma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r-Latn-RS" dirty="0"/>
              <a:t>Kaggle je popularna onlajn platforma za podatke i mašinsko učenje:</a:t>
            </a:r>
          </a:p>
          <a:p>
            <a:r>
              <a:rPr lang="sr-Latn-RS" dirty="0"/>
              <a:t>Osnovana 2010. godine, u vlasništvu Google-a od 2017.</a:t>
            </a:r>
          </a:p>
          <a:p>
            <a:r>
              <a:rPr lang="sr-Latn-RS" dirty="0"/>
              <a:t>Omogućava deljenje dataset-ova i modela</a:t>
            </a:r>
          </a:p>
          <a:p>
            <a:r>
              <a:rPr lang="sr-Latn-RS" dirty="0"/>
              <a:t>Pruža alate za analizu podataka kroz integrisane radne sveske</a:t>
            </a:r>
          </a:p>
          <a:p>
            <a:r>
              <a:rPr lang="sr-Latn-RS" dirty="0"/>
              <a:t>Organizuje takmičenja iz oblasti data science-a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35911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84775"/>
          </a:xfrm>
        </p:spPr>
        <p:txBody>
          <a:bodyPr/>
          <a:lstStyle/>
          <a:p>
            <a:r>
              <a:rPr lang="sr-Latn-RS" dirty="0"/>
              <a:t>UCI Machine Learning Repository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r-Latn-RS" dirty="0"/>
              <a:t>UCI ML Repository je jedan od najpoznatijih akademskih izvora podataka:</a:t>
            </a:r>
          </a:p>
          <a:p>
            <a:r>
              <a:rPr lang="sr-Latn-RS" dirty="0"/>
              <a:t>Osnovan 1987. godine na Univerzitetu u Kaliforniji (Irvine)</a:t>
            </a:r>
          </a:p>
          <a:p>
            <a:r>
              <a:rPr lang="sr-Latn-RS" dirty="0"/>
              <a:t>Sadrži veliki broj dataset-ova za različite ML probleme</a:t>
            </a:r>
          </a:p>
          <a:p>
            <a:r>
              <a:rPr lang="sr-Latn-RS" dirty="0"/>
              <a:t>Pokriva oblasti kao što su klasifikacija, regresija, klasterizacija i prepoznavanje obrazaca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249754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84775"/>
          </a:xfrm>
        </p:spPr>
        <p:txBody>
          <a:bodyPr/>
          <a:lstStyle/>
          <a:p>
            <a:r>
              <a:rPr lang="sr-Latn-RS" dirty="0"/>
              <a:t>Ostali izvori javnih podataka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r-Latn-RS" dirty="0"/>
              <a:t>Google Dataset Search – pretraživač dataset-ova sa </a:t>
            </a:r>
            <a:r>
              <a:rPr lang="sr-Latn-RS" dirty="0" smtClean="0"/>
              <a:t>interneta</a:t>
            </a:r>
            <a:endParaRPr lang="en-US" dirty="0" smtClean="0"/>
          </a:p>
          <a:p>
            <a:r>
              <a:rPr lang="sr-Latn-RS" dirty="0" smtClean="0"/>
              <a:t>Google </a:t>
            </a:r>
            <a:r>
              <a:rPr lang="sr-Latn-RS" dirty="0"/>
              <a:t>Cloud Public Datasets – veliki skupovi podataka dostupni u </a:t>
            </a:r>
            <a:r>
              <a:rPr lang="sr-Latn-RS" dirty="0" smtClean="0"/>
              <a:t>oblaku</a:t>
            </a:r>
            <a:endParaRPr lang="en-US" dirty="0" smtClean="0"/>
          </a:p>
          <a:p>
            <a:r>
              <a:rPr lang="sr-Latn-RS" dirty="0" smtClean="0"/>
              <a:t>AWS </a:t>
            </a:r>
            <a:r>
              <a:rPr lang="sr-Latn-RS" dirty="0"/>
              <a:t>Public Datasets – dataset-ovi integrisani sa AWS </a:t>
            </a:r>
            <a:r>
              <a:rPr lang="sr-Latn-RS" dirty="0" smtClean="0"/>
              <a:t>servisima</a:t>
            </a:r>
            <a:endParaRPr lang="en-US" dirty="0" smtClean="0"/>
          </a:p>
          <a:p>
            <a:r>
              <a:rPr lang="sr-Latn-RS" dirty="0" smtClean="0"/>
              <a:t>U.S</a:t>
            </a:r>
            <a:r>
              <a:rPr lang="sr-Latn-RS" dirty="0"/>
              <a:t>. Government Data (Data.gov) – podaci američkih državnih </a:t>
            </a:r>
            <a:r>
              <a:rPr lang="sr-Latn-RS" dirty="0" smtClean="0"/>
              <a:t>institucija</a:t>
            </a:r>
            <a:endParaRPr lang="en-US" dirty="0" smtClean="0"/>
          </a:p>
          <a:p>
            <a:r>
              <a:rPr lang="sr-Latn-RS" dirty="0" smtClean="0"/>
              <a:t>EU </a:t>
            </a:r>
            <a:r>
              <a:rPr lang="sr-Latn-RS" dirty="0"/>
              <a:t>Open Data Portal – javni podaci Evropske unije</a:t>
            </a:r>
          </a:p>
        </p:txBody>
      </p:sp>
    </p:spTree>
    <p:extLst>
      <p:ext uri="{BB962C8B-B14F-4D97-AF65-F5344CB8AC3E}">
        <p14:creationId xmlns:p14="http://schemas.microsoft.com/office/powerpoint/2010/main" val="2516593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84775"/>
          </a:xfrm>
        </p:spPr>
        <p:txBody>
          <a:bodyPr/>
          <a:lstStyle/>
          <a:p>
            <a:r>
              <a:rPr lang="sv-SE" dirty="0"/>
              <a:t>Dataset-ovi za otkrivanje finansijskih prevara</a:t>
            </a:r>
            <a:endParaRPr 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r-Latn-RS" dirty="0"/>
              <a:t>Zbog zaštite privatnosti, realni podaci o finansijskim transakcijama su retko javno dostupni. Zbog toga se najčešće koriste </a:t>
            </a:r>
            <a:r>
              <a:rPr lang="sr-Latn-RS" b="1" dirty="0"/>
              <a:t>sintetički generisani dataset-ovi</a:t>
            </a:r>
            <a:r>
              <a:rPr lang="sr-Latn-RS" dirty="0"/>
              <a:t>, koji realno simuliraju ponašanje korisnika.</a:t>
            </a:r>
          </a:p>
        </p:txBody>
      </p:sp>
    </p:spTree>
    <p:extLst>
      <p:ext uri="{BB962C8B-B14F-4D97-AF65-F5344CB8AC3E}">
        <p14:creationId xmlns:p14="http://schemas.microsoft.com/office/powerpoint/2010/main" val="1683437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84775"/>
          </a:xfrm>
        </p:spPr>
        <p:txBody>
          <a:bodyPr/>
          <a:lstStyle/>
          <a:p>
            <a:r>
              <a:rPr lang="sr-Latn-RS" dirty="0"/>
              <a:t>Primeri poznatih dataset-ova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RS" b="1" dirty="0"/>
              <a:t>IEEE-CIS Fraud Detection Dataset</a:t>
            </a:r>
            <a:r>
              <a:rPr lang="sr-Latn-RS" dirty="0"/>
              <a:t/>
            </a:r>
            <a:br>
              <a:rPr lang="sr-Latn-RS" dirty="0"/>
            </a:br>
            <a:r>
              <a:rPr lang="sr-Latn-RS" dirty="0"/>
              <a:t>Dataset objavljen u okviru Kaggle takmičenja, baziran na realnim obrascima e‑commerce transakcija. Sadrži veliki broj numeričkih i kategorijalnih atributa, kao i izražen problem nebalansiranosti klasa</a:t>
            </a:r>
            <a:r>
              <a:rPr lang="sr-Latn-RS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sr-Latn-RS" b="1" dirty="0"/>
              <a:t>aySim – Mobile Money Fraud Dataset</a:t>
            </a:r>
            <a:r>
              <a:rPr lang="sr-Latn-RS" dirty="0"/>
              <a:t/>
            </a:r>
            <a:br>
              <a:rPr lang="sr-Latn-RS" dirty="0"/>
            </a:br>
            <a:r>
              <a:rPr lang="sr-Latn-RS" dirty="0"/>
              <a:t>Sintetički dataset koji simulira transakcije mobilnog plaćanja, zasnovan na realnim statističkim obrascima finansijskog ponašanja korisnika</a:t>
            </a:r>
            <a:r>
              <a:rPr lang="sr-Latn-RS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sr-Latn-RS" b="1" dirty="0"/>
              <a:t>Elliptic Bitcoin Transaction Dataset</a:t>
            </a:r>
            <a:r>
              <a:rPr lang="sr-Latn-RS" dirty="0"/>
              <a:t/>
            </a:r>
            <a:br>
              <a:rPr lang="sr-Latn-RS" dirty="0"/>
            </a:br>
            <a:r>
              <a:rPr lang="sr-Latn-RS" dirty="0"/>
              <a:t>Dataset koji sadrži podatke o Bitcoin transakcijama i njihovim međusobnim vezama, korišćen za otkrivanje ilegalnih i sumnjivih aktivnosti u blockchain mrežama</a:t>
            </a:r>
            <a:r>
              <a:rPr lang="sr-Latn-RS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sr-Latn-RS" b="1" dirty="0"/>
              <a:t>Fraud Detection Dataset (IEEE / ULB style)</a:t>
            </a:r>
            <a:r>
              <a:rPr lang="sr-Latn-RS" dirty="0"/>
              <a:t/>
            </a:r>
            <a:br>
              <a:rPr lang="sr-Latn-RS" dirty="0"/>
            </a:br>
            <a:r>
              <a:rPr lang="sr-Latn-RS" dirty="0"/>
              <a:t>Skup podataka sa anonimizovanim atributima transakcija, namenjen razvoju i evaluaciji modela za klasifikaciju prevarnih i legitimnih transakcija.</a:t>
            </a:r>
          </a:p>
        </p:txBody>
      </p:sp>
    </p:spTree>
    <p:extLst>
      <p:ext uri="{BB962C8B-B14F-4D97-AF65-F5344CB8AC3E}">
        <p14:creationId xmlns:p14="http://schemas.microsoft.com/office/powerpoint/2010/main" val="4161186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84775"/>
          </a:xfrm>
        </p:spPr>
        <p:txBody>
          <a:bodyPr/>
          <a:lstStyle/>
          <a:p>
            <a:r>
              <a:rPr lang="pl-PL" dirty="0"/>
              <a:t>Izazovi u radu sa podacima</a:t>
            </a:r>
            <a:endParaRPr 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r-Latn-RS" dirty="0"/>
              <a:t>Nedostupnost realnih podataka zbog politike </a:t>
            </a:r>
            <a:r>
              <a:rPr lang="sr-Latn-RS" dirty="0" smtClean="0"/>
              <a:t>privatnosti</a:t>
            </a:r>
            <a:endParaRPr lang="en-US" dirty="0" smtClean="0"/>
          </a:p>
          <a:p>
            <a:r>
              <a:rPr lang="sr-Latn-RS" dirty="0" smtClean="0"/>
              <a:t>Izrazito </a:t>
            </a:r>
            <a:r>
              <a:rPr lang="sr-Latn-RS" dirty="0"/>
              <a:t>nebalansirani skupovi podataka (mali broj prevara</a:t>
            </a:r>
            <a:r>
              <a:rPr lang="sr-Latn-RS" dirty="0" smtClean="0"/>
              <a:t>)</a:t>
            </a:r>
            <a:endParaRPr lang="en-US" dirty="0" smtClean="0"/>
          </a:p>
          <a:p>
            <a:r>
              <a:rPr lang="sr-Latn-RS" dirty="0" smtClean="0"/>
              <a:t>Potreba </a:t>
            </a:r>
            <a:r>
              <a:rPr lang="sr-Latn-RS" dirty="0"/>
              <a:t>za tehnikama balansiranja podataka (oversampling, undersampling, SMOTE)</a:t>
            </a:r>
          </a:p>
        </p:txBody>
      </p:sp>
    </p:spTree>
    <p:extLst>
      <p:ext uri="{BB962C8B-B14F-4D97-AF65-F5344CB8AC3E}">
        <p14:creationId xmlns:p14="http://schemas.microsoft.com/office/powerpoint/2010/main" val="2256064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84775"/>
          </a:xfrm>
        </p:spPr>
        <p:txBody>
          <a:bodyPr/>
          <a:lstStyle/>
          <a:p>
            <a:r>
              <a:rPr lang="sr-Latn-RS" dirty="0"/>
              <a:t>Zaključak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r-Latn-RS" dirty="0"/>
              <a:t>Kvalitetni podaci su ključni faktor za izgradnju uspešnih sistema za otkrivanje finansijskih prevara. Iako su realni podaci često nedostupni, sintetički dataset-ovi omogućavaju razvoj i testiranje modela mašinskog učenja. Kombinovanje odgovarajućih izvora podataka i tehnika obrade predstavlja osnovu efikasne detekcije prevara.</a:t>
            </a:r>
          </a:p>
        </p:txBody>
      </p:sp>
    </p:spTree>
    <p:extLst>
      <p:ext uri="{BB962C8B-B14F-4D97-AF65-F5344CB8AC3E}">
        <p14:creationId xmlns:p14="http://schemas.microsoft.com/office/powerpoint/2010/main" val="36353741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731</Words>
  <Application>Microsoft Office PowerPoint</Application>
  <PresentationFormat>Widescreen</PresentationFormat>
  <Paragraphs>74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Garamond</vt:lpstr>
      <vt:lpstr>Tahoma</vt:lpstr>
      <vt:lpstr>Trade Gothic LT Pro</vt:lpstr>
      <vt:lpstr>Organic</vt:lpstr>
      <vt:lpstr>Analiza dostupnih izvora podataka vezanih za otkrivanje finansijskih prevara</vt:lpstr>
      <vt:lpstr>PowerPoint Presentation</vt:lpstr>
      <vt:lpstr>Finansijske prevare u digitalnom okruženju</vt:lpstr>
      <vt:lpstr>Otkrivanje finansijskih prevara</vt:lpstr>
      <vt:lpstr>Uloga mašinskog učenja u otkrivanju prevara</vt:lpstr>
      <vt:lpstr>Prikupljanje podataka</vt:lpstr>
      <vt:lpstr>Dostupni izvori podataka</vt:lpstr>
      <vt:lpstr>Kaggle platforma</vt:lpstr>
      <vt:lpstr>UCI Machine Learning Repository</vt:lpstr>
      <vt:lpstr>Ostali izvori javnih podataka</vt:lpstr>
      <vt:lpstr>Dataset-ovi za otkrivanje finansijskih prevara</vt:lpstr>
      <vt:lpstr>Primeri poznatih dataset-ova</vt:lpstr>
      <vt:lpstr>Izazovi u radu sa podacima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2024-12-07T14:30:53Z</dcterms:created>
  <dcterms:modified xsi:type="dcterms:W3CDTF">2026-01-28T12:54:55Z</dcterms:modified>
  <cp:category>for internal use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Classification">
    <vt:lpwstr>for internal use</vt:lpwstr>
  </property>
</Properties>
</file>