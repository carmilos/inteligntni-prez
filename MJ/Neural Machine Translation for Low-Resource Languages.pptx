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5" r:id="rId1"/>
  </p:sldMasterIdLst>
  <p:notesMasterIdLst>
    <p:notesMasterId r:id="rId17"/>
  </p:notesMasterIdLst>
  <p:sldIdLst>
    <p:sldId id="256" r:id="rId2"/>
    <p:sldId id="286" r:id="rId3"/>
    <p:sldId id="287" r:id="rId4"/>
    <p:sldId id="288" r:id="rId5"/>
    <p:sldId id="289" r:id="rId6"/>
    <p:sldId id="290" r:id="rId7"/>
    <p:sldId id="291" r:id="rId8"/>
    <p:sldId id="298" r:id="rId9"/>
    <p:sldId id="292" r:id="rId10"/>
    <p:sldId id="293" r:id="rId11"/>
    <p:sldId id="294" r:id="rId12"/>
    <p:sldId id="295" r:id="rId13"/>
    <p:sldId id="296" r:id="rId14"/>
    <p:sldId id="297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5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r-Latn-R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B7CC8C-FE38-4D18-B469-C08293B12C86}" type="datetimeFigureOut">
              <a:rPr lang="sr-Latn-RS" smtClean="0"/>
              <a:t>28.1.2026.</a:t>
            </a:fld>
            <a:endParaRPr lang="sr-Latn-R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r-Latn-R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r-Latn-R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r-Latn-R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0AEC74-5FC3-4B6F-ADAD-D6E65F9DE5E5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081797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28-Jan-26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2636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28-Jan-26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4819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28-Jan-26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2206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28-Jan-26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074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28-Jan-26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2723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28-Jan-26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6847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28-Jan-26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131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61BEF0D-F0BB-DE4B-95CE-6DB70DBA9567}" type="datetimeFigureOut">
              <a:rPr lang="en-US" smtClean="0"/>
              <a:pPr/>
              <a:t>28-Jan-26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7746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28-Jan-26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346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28-Jan-26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999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28-Jan-26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20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28-Jan-26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9914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47EAF-3128-4FD7-B323-21F8F12FFE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5888" y="1746965"/>
            <a:ext cx="8915399" cy="226278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Neural Machine Translation for Low-Resource Languages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59588" y="4009746"/>
            <a:ext cx="5131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 smtClean="0"/>
              <a:t>Miloš Jakovljević</a:t>
            </a:r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143956546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Uvod u mašinsko prevođenje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Mašinsko prevođenje (MT – </a:t>
            </a:r>
            <a:r>
              <a:rPr lang="sr-Latn-RS" i="1" dirty="0"/>
              <a:t>Machine Translation</a:t>
            </a:r>
            <a:r>
              <a:rPr lang="sr-Latn-RS" dirty="0"/>
              <a:t>) ima za cilj automatski prevod teksta sa jednog jezika na drugi. Tokom razvoja MT-a, izdvajaju se tri glavna pristupa:</a:t>
            </a:r>
          </a:p>
          <a:p>
            <a:r>
              <a:rPr lang="sr-Latn-RS" b="1" dirty="0"/>
              <a:t>Prevođenje zasnovano na pravilima (RBMT)</a:t>
            </a:r>
            <a:r>
              <a:rPr lang="sr-Latn-RS" dirty="0"/>
              <a:t> – lingvistička pravila i rečnici</a:t>
            </a:r>
          </a:p>
          <a:p>
            <a:r>
              <a:rPr lang="sr-Latn-RS" b="1" dirty="0"/>
              <a:t>Statističko mašinsko prevođenje (SMT)</a:t>
            </a:r>
            <a:r>
              <a:rPr lang="sr-Latn-RS" dirty="0"/>
              <a:t> – verovatnosni modeli nad paralelnim korpusima</a:t>
            </a:r>
          </a:p>
          <a:p>
            <a:r>
              <a:rPr lang="sr-Latn-RS" b="1" dirty="0"/>
              <a:t>Neuronsko mašinsko prevođenje (NMT)</a:t>
            </a:r>
            <a:r>
              <a:rPr lang="sr-Latn-RS" dirty="0"/>
              <a:t> – duboke neuronske mreže koje uče prevod end-to-end</a:t>
            </a:r>
          </a:p>
          <a:p>
            <a:r>
              <a:rPr lang="sr-Latn-RS" dirty="0"/>
              <a:t>Današnji komercijalni sistemi kao što su </a:t>
            </a:r>
            <a:r>
              <a:rPr lang="sr-Latn-RS" b="1" dirty="0"/>
              <a:t>Google Translate</a:t>
            </a:r>
            <a:r>
              <a:rPr lang="sr-Latn-RS" dirty="0"/>
              <a:t>, </a:t>
            </a:r>
            <a:r>
              <a:rPr lang="sr-Latn-RS" b="1" dirty="0"/>
              <a:t>DeepL</a:t>
            </a:r>
            <a:r>
              <a:rPr lang="sr-Latn-RS" dirty="0"/>
              <a:t>, </a:t>
            </a:r>
            <a:r>
              <a:rPr lang="sr-Latn-RS" b="1" dirty="0"/>
              <a:t>Microsoft Translator</a:t>
            </a:r>
            <a:r>
              <a:rPr lang="sr-Latn-RS" dirty="0"/>
              <a:t> i </a:t>
            </a:r>
            <a:r>
              <a:rPr lang="sr-Latn-RS" b="1" dirty="0"/>
              <a:t>Amazon Translate</a:t>
            </a:r>
            <a:r>
              <a:rPr lang="sr-Latn-RS" dirty="0"/>
              <a:t> uglavnom koriste NMT pristup.</a:t>
            </a:r>
          </a:p>
          <a:p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68016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Neuronsko mašinsko prevođenje (NMT)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NMT modeli koriste neuronske mreže (najčešće Transformer arhitekturu) za direktno mapiranje izvornog u ciljni jezik. Njihova glavna prednost je bolja fluentnost i kontekstualno razumevanje prevoda.</a:t>
            </a:r>
          </a:p>
          <a:p>
            <a:r>
              <a:rPr lang="sr-Latn-RS" dirty="0"/>
              <a:t>Međutim, NMT zahteva </a:t>
            </a:r>
            <a:r>
              <a:rPr lang="sr-Latn-RS" b="1" dirty="0"/>
              <a:t>velike količine paralelnih podataka</a:t>
            </a:r>
            <a:r>
              <a:rPr lang="sr-Latn-RS" dirty="0"/>
              <a:t> kako bi postigao visok kvalitet.</a:t>
            </a:r>
          </a:p>
          <a:p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954090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Low-Resource jezici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sr-Latn-RS" dirty="0"/>
              <a:t>Većina svetskih jezika spada u kategoriju </a:t>
            </a:r>
            <a:r>
              <a:rPr lang="sr-Latn-RS" b="1" dirty="0"/>
              <a:t>low-resource</a:t>
            </a:r>
            <a:r>
              <a:rPr lang="sr-Latn-RS" dirty="0"/>
              <a:t> jezika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r-Latn-RS" dirty="0"/>
              <a:t>Dostupno je malo paralelnih i često nekvalitetnih podataka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r-Latn-RS" dirty="0"/>
              <a:t>Fokus NMT sistema je uglavnom na jezicima sa bogatim resursima (engleski, kineski, francuski…)</a:t>
            </a:r>
          </a:p>
          <a:p>
            <a:r>
              <a:rPr lang="sr-Latn-RS" b="1" dirty="0"/>
              <a:t>Posledice:</a:t>
            </a:r>
            <a:endParaRPr lang="sr-Latn-RS" dirty="0"/>
          </a:p>
          <a:p>
            <a:pPr>
              <a:buFont typeface="Arial" panose="020B0604020202020204" pitchFamily="34" charset="0"/>
              <a:buChar char="•"/>
            </a:pPr>
            <a:r>
              <a:rPr lang="sr-Latn-RS" dirty="0"/>
              <a:t>Niži kvalitet prevoda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r-Latn-RS" dirty="0"/>
              <a:t>Lošije korisničko iskustvo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r-Latn-RS" dirty="0"/>
              <a:t>Nejednak pristup informacijama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r-Latn-RS" dirty="0"/>
              <a:t>Digitalna isključenost i greške u kritičnim domenima</a:t>
            </a:r>
          </a:p>
          <a:p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547318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Glavni izazovi kod low-resource jezika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97280" y="3257249"/>
            <a:ext cx="695575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sr-Latn-RS" altLang="sr-Latn-R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Nedostatak paralelnih korpusa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sr-Latn-RS" altLang="sr-Latn-R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Šum i nekonzistentnost u dostupnim podacima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sr-Latn-RS" altLang="sr-Latn-R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Složena morfologija i specifična gramatička pravila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sr-Latn-RS" altLang="sr-Latn-R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Otežana evaluacija zbog malog broja standardnih test skupova</a:t>
            </a:r>
          </a:p>
        </p:txBody>
      </p:sp>
    </p:spTree>
    <p:extLst>
      <p:ext uri="{BB962C8B-B14F-4D97-AF65-F5344CB8AC3E}">
        <p14:creationId xmlns:p14="http://schemas.microsoft.com/office/powerpoint/2010/main" val="2901105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Pristupi za rešavanje low-resource NMT 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Najčešće se koristi kombinacija sledećih tehnika: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r-Latn-RS" dirty="0"/>
              <a:t>Povećanje podataka (</a:t>
            </a:r>
            <a:r>
              <a:rPr lang="sr-Latn-RS" i="1" dirty="0"/>
              <a:t>Data Augmentation</a:t>
            </a:r>
            <a:r>
              <a:rPr lang="sr-Latn-RS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r-Latn-RS" dirty="0"/>
              <a:t>Transfer learning i pretrenirani modeli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r-Latn-RS" dirty="0"/>
              <a:t>Multilingvalni NMT modeli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r-Latn-RS" dirty="0"/>
              <a:t>Adapteri i fine‑tuning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r-Latn-RS" dirty="0"/>
              <a:t>Subword tokenizacija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r-Latn-RS" dirty="0"/>
              <a:t>Cross‑lingual reprezentacije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r-Latn-RS" dirty="0"/>
              <a:t>Zero‑shot, few‑shot i nenadgledano učenje</a:t>
            </a:r>
          </a:p>
          <a:p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3002209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Data Augmentation i Back-Translation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b="1" dirty="0"/>
              <a:t>Back-translation</a:t>
            </a:r>
            <a:r>
              <a:rPr lang="sr-Latn-RS" dirty="0"/>
              <a:t> je ključna tehnika za povećanje količine podataka: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r-Latn-RS" dirty="0"/>
              <a:t>Monolingvalni tekst na ciljnom jeziku se prevodi nazad na izvorni jezik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r-Latn-RS" dirty="0"/>
              <a:t>Dobijaju se sintetički paralelni parovi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r-Latn-RS" dirty="0"/>
              <a:t>Kombinovanjem sa postojećim paralelnim korpusom značajno se povećava skup za treniranje</a:t>
            </a:r>
          </a:p>
          <a:p>
            <a:r>
              <a:rPr lang="sr-Latn-RS" dirty="0"/>
              <a:t>Ova tehnika se pokazala kao jedna od najefikasnijih za low-resource jezike.</a:t>
            </a:r>
          </a:p>
          <a:p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4283736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059" y="1019468"/>
            <a:ext cx="6173061" cy="4410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234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Transfer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Transfer learning omogućava prenos znanja sa jezika bogatih resursima na jezike sa malo podataka: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r-Latn-RS" dirty="0"/>
              <a:t>Model se prvo trenira na velikom paralelnom korpusu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r-Latn-RS" dirty="0"/>
              <a:t>Parametri se zatim koriste kao početna tačka za low-resource jezik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r-Latn-RS" dirty="0"/>
              <a:t>Najbolji rezultati se često postižu kada su jezici srodni</a:t>
            </a:r>
          </a:p>
          <a:p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3436246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Multilingvalni NMT modeli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Multilingvalni modeli treniraju se istovremeno na više jezika: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r-Latn-RS" dirty="0"/>
              <a:t>Koriste zajednički vektorski prostor za sve jezike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r-Latn-RS" dirty="0"/>
              <a:t>Omogućavaju deljenje parametara između jezika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r-Latn-RS" dirty="0"/>
              <a:t>Smanjuju potrebu za velikim paralelnim korpusima po jeziku</a:t>
            </a:r>
          </a:p>
          <a:p>
            <a:r>
              <a:rPr lang="sr-Latn-RS" dirty="0"/>
              <a:t>Primeri takvih modela su </a:t>
            </a:r>
            <a:r>
              <a:rPr lang="sr-Latn-RS" b="1" dirty="0"/>
              <a:t>mBART</a:t>
            </a:r>
            <a:r>
              <a:rPr lang="sr-Latn-RS" dirty="0"/>
              <a:t>, </a:t>
            </a:r>
            <a:r>
              <a:rPr lang="sr-Latn-RS" b="1" dirty="0"/>
              <a:t>mT5</a:t>
            </a:r>
            <a:r>
              <a:rPr lang="sr-Latn-RS" dirty="0"/>
              <a:t> i </a:t>
            </a:r>
            <a:r>
              <a:rPr lang="sr-Latn-RS" b="1" dirty="0"/>
              <a:t>XLM‑R</a:t>
            </a:r>
            <a:r>
              <a:rPr lang="sr-Latn-RS" dirty="0"/>
              <a:t>.</a:t>
            </a:r>
          </a:p>
          <a:p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1130810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Adapteri i Fine-Tuning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sr-Latn-RS" b="1" dirty="0"/>
              <a:t>Adapteri</a:t>
            </a:r>
            <a:r>
              <a:rPr lang="sr-Latn-RS" dirty="0"/>
              <a:t> dodaju male, specijalizovane slojeve u pretrenirani model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r-Latn-RS" dirty="0"/>
              <a:t>Omogućavaju prilagođavanje novom jeziku bez treniranja celog modela</a:t>
            </a:r>
          </a:p>
          <a:p>
            <a:r>
              <a:rPr lang="sr-Latn-RS" b="1" dirty="0"/>
              <a:t>Fine‑tuning</a:t>
            </a:r>
            <a:r>
              <a:rPr lang="sr-Latn-R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r-Latn-RS" dirty="0"/>
              <a:t>Dodatno treniranje pretrenirnog modela na malom skupu specifičnih podataka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r-Latn-RS" dirty="0"/>
              <a:t>Fokus na jezičke ili domenske karakteristike</a:t>
            </a:r>
          </a:p>
          <a:p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207870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Subword tokenizacija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Subword tehnike su posebno važne za morfološki bogate jezike: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r-Latn-RS" dirty="0"/>
              <a:t>Reči se dele na manje jedinice (subwords)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r-Latn-RS" dirty="0"/>
              <a:t>Omogućava se obrada retkih i nepoznatih reči</a:t>
            </a:r>
          </a:p>
          <a:p>
            <a:r>
              <a:rPr lang="sr-Latn-RS" dirty="0"/>
              <a:t>Najčešće metode: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r-Latn-RS" b="1" dirty="0"/>
              <a:t>BPE (Byte Pair Encoding)</a:t>
            </a:r>
            <a:r>
              <a:rPr lang="sr-Latn-RS" dirty="0"/>
              <a:t> – koristi frekvenciju pojavljivanja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r-Latn-RS" b="1" dirty="0"/>
              <a:t>WordPiece</a:t>
            </a:r>
            <a:r>
              <a:rPr lang="sr-Latn-RS" dirty="0"/>
              <a:t> – maksimizuje verovatnoću jezika (koristi se u BERT‑u)</a:t>
            </a:r>
          </a:p>
          <a:p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9867221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Cross-lingual, Zero-shot i Unsupervised NMT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Cross‑lingual learning</a:t>
            </a:r>
            <a:r>
              <a:rPr kumimoji="0" lang="sr-Latn-RS" altLang="sr-Latn-R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učenje zajedničkih reprezentacija za više jezika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Zero‑shot prevođenje</a:t>
            </a:r>
            <a:r>
              <a:rPr kumimoji="0" lang="sr-Latn-RS" altLang="sr-Latn-R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bez direktnog treniranja na datom jezičkom paru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Few‑shot učenje</a:t>
            </a:r>
            <a:r>
              <a:rPr kumimoji="0" lang="sr-Latn-RS" altLang="sr-Latn-R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mali broj paralelnih primera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Unsupervised NMT</a:t>
            </a:r>
            <a:r>
              <a:rPr kumimoji="0" lang="sr-Latn-RS" altLang="sr-Latn-R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koristi samo monolingvalne korpuse i tehnike poput denoising‑a i back‑translation‑a</a:t>
            </a:r>
          </a:p>
        </p:txBody>
      </p:sp>
    </p:spTree>
    <p:extLst>
      <p:ext uri="{BB962C8B-B14F-4D97-AF65-F5344CB8AC3E}">
        <p14:creationId xmlns:p14="http://schemas.microsoft.com/office/powerpoint/2010/main" val="10335716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Evaluacija i zaključak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b="1" dirty="0"/>
              <a:t>Evaluacija:</a:t>
            </a:r>
            <a:endParaRPr lang="sr-Latn-RS" dirty="0"/>
          </a:p>
          <a:p>
            <a:pPr>
              <a:buFont typeface="Arial" panose="020B0604020202020204" pitchFamily="34" charset="0"/>
              <a:buChar char="•"/>
            </a:pPr>
            <a:r>
              <a:rPr lang="sr-Latn-RS" dirty="0"/>
              <a:t>Automatske metrike: BLEU, chrF, COMET, BLEURT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r-Latn-RS" dirty="0"/>
              <a:t>Ljudska evaluacija: adekvatnost i tečnost</a:t>
            </a:r>
          </a:p>
          <a:p>
            <a:r>
              <a:rPr lang="sr-Latn-RS" b="1" dirty="0"/>
              <a:t>Zaključak:</a:t>
            </a:r>
            <a:endParaRPr lang="sr-Latn-RS" dirty="0"/>
          </a:p>
          <a:p>
            <a:pPr>
              <a:buFont typeface="Arial" panose="020B0604020202020204" pitchFamily="34" charset="0"/>
              <a:buChar char="•"/>
            </a:pPr>
            <a:r>
              <a:rPr lang="sr-Latn-RS" dirty="0"/>
              <a:t>Većina jezika u svetu je low-resource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r-Latn-RS" dirty="0"/>
              <a:t>Najbolji rezultati se postižu kombinovanjem više pristupa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r-Latn-RS" dirty="0"/>
              <a:t>Evaluacija ostaje jedan od najvećih izazova</a:t>
            </a:r>
          </a:p>
          <a:p>
            <a:r>
              <a:rPr lang="sr-Latn-RS" b="1" dirty="0"/>
              <a:t>Hvala na pažnji!</a:t>
            </a:r>
            <a:endParaRPr lang="sr-Latn-RS" dirty="0"/>
          </a:p>
          <a:p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2952633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8DEFD-E3D1-4F9A-9565-E1FF32D18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0023" y="3151573"/>
            <a:ext cx="8206189" cy="1143828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/>
              <a:t>HVALA NA </a:t>
            </a:r>
            <a:r>
              <a:rPr lang="sr-Latn-RS" sz="5400" b="1" dirty="0" smtClean="0"/>
              <a:t>PA</a:t>
            </a:r>
            <a:r>
              <a:rPr lang="en-US" sz="5400" b="1" dirty="0" smtClean="0"/>
              <a:t>ŽNJI!            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530115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594</Words>
  <Application>Microsoft Office PowerPoint</Application>
  <PresentationFormat>Widescreen</PresentationFormat>
  <Paragraphs>79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Retrospect</vt:lpstr>
      <vt:lpstr>Neural Machine Translation for Low-Resource Languages</vt:lpstr>
      <vt:lpstr>Uvod u mašinsko prevođenje</vt:lpstr>
      <vt:lpstr>Neuronsko mašinsko prevođenje (NMT)</vt:lpstr>
      <vt:lpstr>Low-Resource jezici</vt:lpstr>
      <vt:lpstr>Glavni izazovi kod low-resource jezika</vt:lpstr>
      <vt:lpstr>Pristupi za rešavanje low-resource NMT problema</vt:lpstr>
      <vt:lpstr>Data Augmentation i Back-Translation</vt:lpstr>
      <vt:lpstr>PowerPoint Presentation</vt:lpstr>
      <vt:lpstr>Transfer Learning</vt:lpstr>
      <vt:lpstr>Multilingvalni NMT modeli</vt:lpstr>
      <vt:lpstr>Adapteri i Fine-Tuning</vt:lpstr>
      <vt:lpstr>Subword tokenizacija</vt:lpstr>
      <vt:lpstr>Cross-lingual, Zero-shot i Unsupervised NMT</vt:lpstr>
      <vt:lpstr>Evaluacija i zaključak</vt:lpstr>
      <vt:lpstr>HVALA NA PAŽNJI!         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Neural Machine Translation for Low-Resource Languages</dc:title>
  <dc:creator>Administrator</dc:creator>
  <cp:lastModifiedBy>Jakovljevic Milos Externalconsultant (LMB)</cp:lastModifiedBy>
  <cp:revision>62</cp:revision>
  <dcterms:created xsi:type="dcterms:W3CDTF">2025-09-03T04:37:43Z</dcterms:created>
  <dcterms:modified xsi:type="dcterms:W3CDTF">2026-01-28T12:44:50Z</dcterms:modified>
  <cp:category>for internal use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for internal use</vt:lpwstr>
  </property>
</Properties>
</file>